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94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642938"/>
            <a:ext cx="583499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DATABASES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14363" y="1121569"/>
            <a:ext cx="5834993" cy="96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1600"/>
              </a:lnSpc>
              <a:buNone/>
            </a:pPr>
            <a:r>
              <a:rPr lang="en-US" sz="3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Culture Laboratory Management Database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14363" y="2326184"/>
            <a:ext cx="583499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normalized MySQL system for experiments, passages, quality control, and cryostock inventory.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4363" y="3183434"/>
            <a:ext cx="5834993" cy="41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Merna </a:t>
            </a:r>
            <a:r>
              <a:rPr lang="en-US" sz="105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Mikheal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Alkes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Student ID: 221001874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49418" y="0"/>
            <a:ext cx="2194527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Text 5"/>
          <p:cNvSpPr/>
          <p:nvPr/>
        </p:nvSpPr>
        <p:spPr>
          <a:xfrm>
            <a:off x="7327179" y="3917431"/>
            <a:ext cx="2622203" cy="1101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800" b="1" dirty="0">
                <a:solidFill>
                  <a:srgbClr val="FF8F0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1399" y="3529013"/>
            <a:ext cx="1668680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900" b="1" dirty="0">
                <a:solidFill>
                  <a:srgbClr val="0D47A1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900" dirty="0"/>
          </a:p>
        </p:txBody>
      </p:sp>
      <p:sp>
        <p:nvSpPr>
          <p:cNvPr id="4" name="Text 1"/>
          <p:cNvSpPr/>
          <p:nvPr/>
        </p:nvSpPr>
        <p:spPr>
          <a:xfrm>
            <a:off x="585788" y="700088"/>
            <a:ext cx="8029575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Scope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85788" y="1407319"/>
            <a:ext cx="3643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need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5788" y="1728788"/>
            <a:ext cx="3643313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Cell-culture work depends on reliable tracking of biological materials, equipment, experiments, passages, quality-control tests, researchers, and frozen stocks.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657725" y="1407319"/>
            <a:ext cx="3643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57725" y="1728788"/>
            <a:ext cx="3643313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manages laboratory operations and experimental metadata. It excludes patient-identifying data, authentication, and optional user-interface functionality.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788" y="4550569"/>
            <a:ext cx="31122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CULTURE LABORATORY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14338"/>
            <a:ext cx="4141422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Addressed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818240" y="4327970"/>
            <a:ext cx="95352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6200" b="1" dirty="0">
                <a:solidFill>
                  <a:srgbClr val="0D47A1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585788" y="1857375"/>
            <a:ext cx="186451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85788" y="2289572"/>
            <a:ext cx="1864519" cy="5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tables, including one associative table.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636044" y="1857375"/>
            <a:ext cx="186451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636044" y="2289572"/>
            <a:ext cx="1864519" cy="5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relational schema with keys and constraints.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86300" y="1857375"/>
            <a:ext cx="186451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686300" y="2289572"/>
            <a:ext cx="1864519" cy="5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views plus a stored procedure and validation trigger.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36556" y="1857375"/>
            <a:ext cx="186451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736556" y="2289572"/>
            <a:ext cx="1864519" cy="5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records in each main table, with varied test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392906"/>
            <a:ext cx="202196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Entities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636526" y="4406409"/>
            <a:ext cx="1096566" cy="7097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7600"/>
              </a:lnSpc>
              <a:buNone/>
            </a:pPr>
            <a:r>
              <a:rPr lang="en-US" sz="7150" b="1" dirty="0">
                <a:solidFill>
                  <a:srgbClr val="0D47A1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150" dirty="0"/>
          </a:p>
        </p:txBody>
      </p:sp>
      <p:sp>
        <p:nvSpPr>
          <p:cNvPr id="6" name="Text 3"/>
          <p:cNvSpPr/>
          <p:nvPr/>
        </p:nvSpPr>
        <p:spPr>
          <a:xfrm>
            <a:off x="585788" y="1874230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personnel and contact details.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5788" y="2301069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study title, status, dates, and cell line.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788" y="2727908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EXPERIMENT_RESEARCHER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assignments and roles.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43275" y="1874230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CELL_LINE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organism, tissue origin, and biosafety level.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43275" y="2301069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propagation date, number, and split ratio.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43275" y="2727908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medium, serum, batch, and expiry data.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00763" y="1874230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INCUBATOR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model, location, temperature, and CO₂.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00763" y="2301069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CONTAMINATION_TEST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contaminant type and result.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00763" y="2727908"/>
            <a:ext cx="24145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CRYOSTOCK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vial quantity, freeze date, and storage location.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5788" y="4761309"/>
            <a:ext cx="360296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CORE TABLES · ONE ASSOCIATIVE RELATIONSHIP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585788"/>
            <a:ext cx="3615240" cy="345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3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and Relationships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7916336" y="4446315"/>
            <a:ext cx="969429" cy="6971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6300" b="1" dirty="0">
                <a:solidFill>
                  <a:srgbClr val="0D47A1">
                    <a:alpha val="1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300" dirty="0"/>
          </a:p>
        </p:txBody>
      </p:sp>
      <p:sp>
        <p:nvSpPr>
          <p:cNvPr id="6" name="Text 2"/>
          <p:cNvSpPr/>
          <p:nvPr/>
        </p:nvSpPr>
        <p:spPr>
          <a:xfrm>
            <a:off x="5614988" y="1254398"/>
            <a:ext cx="2786063" cy="197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Cardinality map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14988" y="1630114"/>
            <a:ext cx="278606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line → experiments and stocks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614988" y="1851571"/>
            <a:ext cx="2786063" cy="33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CELL_LINE can support many EXPERIMENT and CRYOSTOCK records.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14988" y="2383892"/>
            <a:ext cx="278606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→ passage → test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14988" y="2605348"/>
            <a:ext cx="2786063" cy="50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EXPERIMENT can have many PASSAGE records, and each passage can have many CONTAMINATION_TEST records.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614988" y="3307389"/>
            <a:ext cx="278606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↔ experiment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14988" y="3528845"/>
            <a:ext cx="2786063" cy="50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many-to-many relationship is resolved by EXPERIMENT_RESEARCHER, which stores each researcher’s role.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105A1B-04D4-99FD-0D58-9A8A8594B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56" y="930809"/>
            <a:ext cx="5316236" cy="4080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42925"/>
            <a:ext cx="3597604" cy="6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3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Schema and
Normalization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7906233" y="4530901"/>
            <a:ext cx="937673" cy="606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7600"/>
              </a:lnSpc>
              <a:buNone/>
            </a:pPr>
            <a:r>
              <a:rPr lang="en-US" sz="6100" b="1" dirty="0">
                <a:solidFill>
                  <a:srgbClr val="0D47A1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100" dirty="0"/>
          </a:p>
        </p:txBody>
      </p:sp>
      <p:sp>
        <p:nvSpPr>
          <p:cNvPr id="5" name="Text 2"/>
          <p:cNvSpPr/>
          <p:nvPr/>
        </p:nvSpPr>
        <p:spPr>
          <a:xfrm>
            <a:off x="428625" y="1318692"/>
            <a:ext cx="447483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STRUCTURE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28625" y="1525860"/>
            <a:ext cx="447483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CELL_LINE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EXPERIMENT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8625" y="1836613"/>
            <a:ext cx="447483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2125935"/>
            <a:ext cx="447483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8625" y="2436688"/>
            <a:ext cx="447483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8625" y="2726010"/>
            <a:ext cx="447483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CONTAMINATION_TEST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8625" y="3036763"/>
            <a:ext cx="447483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8625" y="3326085"/>
            <a:ext cx="447483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N</a:t>
            </a: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EXPERIMENT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8625" y="3593976"/>
            <a:ext cx="4474834" cy="4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through </a:t>
            </a: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EXPERIMENT_RESEARCHER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composite primary key </a:t>
            </a: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(ExperimentID, ResearcherID)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32046" y="1318692"/>
            <a:ext cx="381186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DECISIONS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32046" y="1525860"/>
            <a:ext cx="3143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46371" y="1525860"/>
            <a:ext cx="345467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table represents one subject and stores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32046" y="1815182"/>
            <a:ext cx="345467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attributes.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32046" y="2084468"/>
            <a:ext cx="3143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46371" y="2084468"/>
            <a:ext cx="3454673" cy="63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Non-key attributes depend on the </a:t>
            </a: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key</a:t>
            </a: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`Role` belongs to the researcher–experiment assignment.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032046" y="2778026"/>
            <a:ext cx="3143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46371" y="2778026"/>
            <a:ext cx="345467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Researcher, cell-line, media, and incubator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32046" y="3067348"/>
            <a:ext cx="345467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are separated to prevent repeated and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32046" y="3279484"/>
            <a:ext cx="345467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transitively dependent data.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29575" y="4375463"/>
            <a:ext cx="856004" cy="75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000" b="1" dirty="0">
                <a:solidFill>
                  <a:srgbClr val="0D47A1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85788" y="650081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Constraints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85788" y="1110128"/>
            <a:ext cx="5429250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protects relationships and enforces laboratory business rules at the database layer.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788" y="1979433"/>
            <a:ext cx="178593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50" b="1" kern="0" spc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00325" y="1979433"/>
            <a:ext cx="542925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and foreign keys preserve valid links among cell lines, experiments, passages, tests, researchers, resources, and cryostocks.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788" y="2750958"/>
            <a:ext cx="1785938" cy="63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50" b="1" kern="0" spc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ACTIONS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0325" y="2750958"/>
            <a:ext cx="5429250" cy="63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experiment, passage, test, assignment, and cryostock records cascade when appropriate. Deleted media or incubators set nullable passage references to NULL.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85788" y="3680259"/>
            <a:ext cx="178593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50" b="1" kern="0" spc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600325" y="3680259"/>
            <a:ext cx="542925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Cryostock vial quantities cannot be negative. The BEFORE INSERT trigger rejects invalid inventory values with a clear database error.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5788" y="4473215"/>
            <a:ext cx="7715250" cy="501035"/>
          </a:xfrm>
          <a:prstGeom prst="rect">
            <a:avLst/>
          </a:prstGeom>
          <a:noFill/>
          <a:ln/>
        </p:spPr>
        <p:txBody>
          <a:bodyPr wrap="square" lIns="204089" tIns="170053" rIns="204089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 err="1">
                <a:solidFill>
                  <a:srgbClr val="E8F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VialCount</a:t>
            </a:r>
            <a:r>
              <a:rPr lang="en-US" sz="1000" dirty="0">
                <a:solidFill>
                  <a:srgbClr val="E8F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...) VALUES (..., -1, ...);
.”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542925"/>
            <a:ext cx="4643382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and Stored Procedure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711453" y="4393406"/>
            <a:ext cx="1191946" cy="7500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7750" b="1" dirty="0">
                <a:solidFill>
                  <a:srgbClr val="0D47A1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750" dirty="0"/>
          </a:p>
        </p:txBody>
      </p:sp>
      <p:sp>
        <p:nvSpPr>
          <p:cNvPr id="5" name="Text 2"/>
          <p:cNvSpPr/>
          <p:nvPr/>
        </p:nvSpPr>
        <p:spPr>
          <a:xfrm>
            <a:off x="585788" y="1535906"/>
            <a:ext cx="25717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EXPERIMENTS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5788" y="1803797"/>
            <a:ext cx="25717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8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vw_active_experiments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571875" y="1535906"/>
            <a:ext cx="464343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</a:t>
            </a: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CELL_LINE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exposes only records whose status is </a:t>
            </a: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together with the cell-line name and start date.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788" y="2378869"/>
            <a:ext cx="25717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 SUMMARY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788" y="2646759"/>
            <a:ext cx="25717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8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vw_contamination_summary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571875" y="2378869"/>
            <a:ext cx="464343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</a:t>
            </a: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CONTAMINATION_TEST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laboratory users can review test results with passage numbers and experiment context.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788" y="3221831"/>
            <a:ext cx="25717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CELL-LINE LOOKUP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5788" y="3489722"/>
            <a:ext cx="25717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8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sp_GetActiveExperimentsByCellLine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71875" y="3221831"/>
            <a:ext cx="4643438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a </a:t>
            </a: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CellLineID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parameter and returns active experiments associated with that biological cell line.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788" y="4775597"/>
            <a:ext cx="56038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OBJECTS SUPPORT REUSABILITY AND BUSINESS-RULE ENFORCEMENT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614363"/>
            <a:ext cx="4557210" cy="345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350" b="1" kern="0" spc="-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Operations and Test Data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7615739" y="4394071"/>
            <a:ext cx="1128378" cy="7303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7600"/>
              </a:lnSpc>
              <a:buNone/>
            </a:pPr>
            <a:r>
              <a:rPr lang="en-US" sz="7350" b="1" dirty="0">
                <a:solidFill>
                  <a:srgbClr val="0D47A1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350" dirty="0"/>
          </a:p>
        </p:txBody>
      </p:sp>
      <p:sp>
        <p:nvSpPr>
          <p:cNvPr id="5" name="Text 2"/>
          <p:cNvSpPr/>
          <p:nvPr/>
        </p:nvSpPr>
        <p:spPr>
          <a:xfrm>
            <a:off x="642938" y="1244687"/>
            <a:ext cx="6429375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script demonstrates the required read, analysis, and data-modification operations against meaningful laboratory records.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2938" y="1899010"/>
            <a:ext cx="187523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2938" y="2241910"/>
            <a:ext cx="1875234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and filter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2938" y="2464426"/>
            <a:ext cx="1875234" cy="4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WHERE, ORDER BY, and LIKE queries for cell lines and researchers.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661047" y="1899010"/>
            <a:ext cx="187523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661047" y="2241910"/>
            <a:ext cx="1875234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and aggregate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61047" y="2464426"/>
            <a:ext cx="1875234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Multi-table joins plus GROUP BY and HAVING for cryostock totals.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79156" y="1899010"/>
            <a:ext cx="187523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679156" y="2241910"/>
            <a:ext cx="1875234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Subquery and objects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79156" y="2464426"/>
            <a:ext cx="1875234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 subquery, two view queries, and a stored-procedure call.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97266" y="1899010"/>
            <a:ext cx="187523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697266" y="2241910"/>
            <a:ext cx="1875234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safely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97266" y="2464426"/>
            <a:ext cx="1875234" cy="4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INSERT, UPDATE, and DELETE examples for demonstration.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2938" y="3066510"/>
            <a:ext cx="7929563" cy="13108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2938" y="3066510"/>
            <a:ext cx="7929563" cy="28575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0" name="Text 17"/>
          <p:cNvSpPr/>
          <p:nvPr/>
        </p:nvSpPr>
        <p:spPr>
          <a:xfrm>
            <a:off x="642938" y="3137948"/>
            <a:ext cx="383619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SAMPLE-DATA COVERAGE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2938" y="3384407"/>
            <a:ext cx="3571875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main table contains </a:t>
            </a:r>
            <a:r>
              <a:rPr lang="en-US" sz="1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meaningful records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data includes active, completed, and terminated experiments; multiple researcher assignments; positive and negative contamination results; and varied cryostock quantities.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36306" y="3137948"/>
            <a:ext cx="383619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EVIDENCE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36306" y="3384407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scripts on a clean database, verify the views and procedure, then attempt an invalid negative vial count to confirm trigger enforcement.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36306" y="4063064"/>
            <a:ext cx="3836194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Vial count cannot be negative.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60" y="86283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557213"/>
            <a:ext cx="6072188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550" b="1" kern="0" spc="-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and Conclusion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85788" y="1057275"/>
            <a:ext cx="6072188" cy="414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live sequence proves that the schema, data, queries, and business rules work together.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556136" y="4431248"/>
            <a:ext cx="1128378" cy="7303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7600"/>
              </a:lnSpc>
              <a:buNone/>
            </a:pPr>
            <a:r>
              <a:rPr lang="en-US" sz="7350" b="1" dirty="0">
                <a:solidFill>
                  <a:srgbClr val="0D47A1">
                    <a:alpha val="1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350" dirty="0"/>
          </a:p>
        </p:txBody>
      </p:sp>
      <p:sp>
        <p:nvSpPr>
          <p:cNvPr id="6" name="Text 3"/>
          <p:cNvSpPr/>
          <p:nvPr/>
        </p:nvSpPr>
        <p:spPr>
          <a:xfrm>
            <a:off x="585788" y="1861882"/>
            <a:ext cx="15173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85788" y="2157971"/>
            <a:ext cx="1517321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789" y="2361456"/>
            <a:ext cx="1285876" cy="418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database and tables from the DDL script.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88834" y="1872984"/>
            <a:ext cx="15173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88834" y="2157971"/>
            <a:ext cx="1517321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017328" y="2329975"/>
            <a:ext cx="1564800" cy="27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the supplied meaningful test data.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791880" y="1867392"/>
            <a:ext cx="15173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791880" y="2157971"/>
            <a:ext cx="1517321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84474" y="2338661"/>
            <a:ext cx="1562504" cy="27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view and call the active-experiment procedure.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94927" y="1867392"/>
            <a:ext cx="15173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5394927" y="2157971"/>
            <a:ext cx="1517321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09201" y="2350251"/>
            <a:ext cx="1562504" cy="27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a negative vial insert and show the trigger error.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98030" y="1855660"/>
            <a:ext cx="15173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6997973" y="2157971"/>
            <a:ext cx="1517321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97973" y="2387630"/>
            <a:ext cx="1686541" cy="27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joins, aggregation, INSERT, UPDATE, and DELETE.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5788" y="2658033"/>
            <a:ext cx="7929563" cy="6286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6" name="Text 23"/>
          <p:cNvSpPr/>
          <p:nvPr/>
        </p:nvSpPr>
        <p:spPr>
          <a:xfrm>
            <a:off x="785813" y="2743758"/>
            <a:ext cx="18573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86075" y="2743758"/>
            <a:ext cx="5429250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125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normalized, executable database foundation for reliable cell-culture laboratory management.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82493FA-6C74-E139-B937-6ED07A43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AB4AFB17-E6AF-E66B-B485-DCE4CDEF1659}"/>
              </a:ext>
            </a:extLst>
          </p:cNvPr>
          <p:cNvSpPr/>
          <p:nvPr/>
        </p:nvSpPr>
        <p:spPr>
          <a:xfrm>
            <a:off x="7302336" y="4783628"/>
            <a:ext cx="542393" cy="399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7600"/>
              </a:lnSpc>
              <a:buNone/>
            </a:pPr>
            <a:r>
              <a:rPr lang="en-US" sz="4000" b="1" dirty="0">
                <a:solidFill>
                  <a:srgbClr val="0D47A1">
                    <a:alpha val="1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CFC88-C29D-65E2-142F-224F4653B78B}"/>
              </a:ext>
            </a:extLst>
          </p:cNvPr>
          <p:cNvSpPr txBox="1"/>
          <p:nvPr/>
        </p:nvSpPr>
        <p:spPr>
          <a:xfrm>
            <a:off x="497541" y="189832"/>
            <a:ext cx="4572000" cy="420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550" b="1" kern="0" spc="-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5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78EE80-E5B7-BB1A-AFBC-0E530B25E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" y="610268"/>
            <a:ext cx="8900160" cy="406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17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879</Words>
  <Application>Microsoft Office PowerPoint</Application>
  <PresentationFormat>On-screen Show (16:9)</PresentationFormat>
  <Paragraphs>138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Muhammad</cp:lastModifiedBy>
  <cp:revision>4</cp:revision>
  <dcterms:created xsi:type="dcterms:W3CDTF">2026-08-14T19:54:03Z</dcterms:created>
  <dcterms:modified xsi:type="dcterms:W3CDTF">2026-08-15T14:05:37Z</dcterms:modified>
</cp:coreProperties>
</file>